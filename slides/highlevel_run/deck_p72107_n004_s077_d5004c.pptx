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Academic World and Professional World: Demands and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70C0"/>
                </a:solidFill>
              </a:defRPr>
            </a:pPr>
            <a:r>
              <a:t>Academic World</a:t>
            </a:r>
          </a:p>
          <a:p>
            <a:pPr>
              <a:defRPr sz="1400" b="1">
                <a:solidFill>
                  <a:srgbClr val="323232"/>
                </a:solidFill>
              </a:defRPr>
            </a:pPr>
            <a:r>
              <a:t>Goals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Acquire theoretical knowledge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Develop critical thinking skills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Earn degrees and certifications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Conduct academic research</a:t>
            </a:r>
          </a:p>
          <a:p>
            <a:pPr>
              <a:defRPr sz="1400" b="1">
                <a:solidFill>
                  <a:srgbClr val="323232"/>
                </a:solidFill>
              </a:defRPr>
            </a:pPr>
            <a:r>
              <a:t>Focus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Understanding 'How' and 'Why'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Individual performance (Grades)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Long-term learning process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Depth of subject matter</a:t>
            </a:r>
          </a:p>
          <a:p>
            <a:pPr>
              <a:defRPr sz="1400" b="1">
                <a:solidFill>
                  <a:srgbClr val="323232"/>
                </a:solidFill>
              </a:defRPr>
            </a:pPr>
            <a:r>
              <a:t>Setting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Classrooms, Lecture Halls, Seminars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Libraries and Laboratories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Structured academic calendar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Controlled learning environment</a:t>
            </a:r>
          </a:p>
          <a:p>
            <a:pPr>
              <a:defRPr sz="1400" b="1">
                <a:solidFill>
                  <a:srgbClr val="323232"/>
                </a:solidFill>
              </a:defRPr>
            </a:pPr>
            <a:r>
              <a:t>Atmosphere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Intellectual curiosity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Collaborative peer learning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Safe space for trial and error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Feedback-oriented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C00000"/>
                </a:solidFill>
              </a:defRPr>
            </a:pPr>
            <a:r>
              <a:t>Professional World</a:t>
            </a:r>
          </a:p>
          <a:p>
            <a:pPr>
              <a:defRPr sz="1400" b="1">
                <a:solidFill>
                  <a:srgbClr val="323232"/>
                </a:solidFill>
              </a:defRPr>
            </a:pPr>
            <a:r>
              <a:t>Goals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Achieve organizational KPIs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Maximize efficiency and profit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Career advancement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Solve real-world business problems</a:t>
            </a:r>
          </a:p>
          <a:p>
            <a:pPr>
              <a:defRPr sz="1400" b="1">
                <a:solidFill>
                  <a:srgbClr val="323232"/>
                </a:solidFill>
              </a:defRPr>
            </a:pPr>
            <a:r>
              <a:t>Focus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Practical application ('What')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Team output and results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Meeting deadlines and ROI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Continuous improvement</a:t>
            </a:r>
          </a:p>
          <a:p>
            <a:pPr>
              <a:defRPr sz="1400" b="1">
                <a:solidFill>
                  <a:srgbClr val="323232"/>
                </a:solidFill>
              </a:defRPr>
            </a:pPr>
            <a:r>
              <a:t>Setting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Offices and Corporate campuses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Client sites and Field work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Dynamic/Flexible schedules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High-stakes environment</a:t>
            </a:r>
          </a:p>
          <a:p>
            <a:pPr>
              <a:defRPr sz="1400" b="1">
                <a:solidFill>
                  <a:srgbClr val="323232"/>
                </a:solidFill>
              </a:defRPr>
            </a:pPr>
            <a:r>
              <a:t>Atmosphere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Performance-driven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Competitive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Accountability for outcomes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/>
            </a:pPr>
            <a:r>
              <a:t>Fast-paced decision 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