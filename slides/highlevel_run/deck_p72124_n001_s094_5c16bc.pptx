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t>Advantages of Blockchain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005FA4"/>
                </a:solidFill>
              </a:rPr>
              <a:t>1. Decentralization: </a:t>
            </a:r>
            <a:r>
              <a:rPr sz="1400">
                <a:solidFill>
                  <a:srgbClr val="333333"/>
                </a:solidFill>
              </a:rPr>
              <a:t>Removes intermediaries, distributing control across the network for resilience.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05FA4"/>
                </a:solidFill>
              </a:rPr>
              <a:t>2. Transparency: </a:t>
            </a:r>
            <a:r>
              <a:rPr sz="1400">
                <a:solidFill>
                  <a:srgbClr val="333333"/>
                </a:solidFill>
              </a:rPr>
              <a:t>All transactions are visible and verifiable by all participants in the network.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05FA4"/>
                </a:solidFill>
              </a:rPr>
              <a:t>3. Immutability: </a:t>
            </a:r>
            <a:r>
              <a:rPr sz="1400">
                <a:solidFill>
                  <a:srgbClr val="333333"/>
                </a:solidFill>
              </a:rPr>
              <a:t>Data, once recorded, cannot be altered or deleted, ensuring trust and integrity.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05FA4"/>
                </a:solidFill>
              </a:rPr>
              <a:t>4. Security: </a:t>
            </a:r>
            <a:r>
              <a:rPr sz="1400">
                <a:solidFill>
                  <a:srgbClr val="333333"/>
                </a:solidFill>
              </a:rPr>
              <a:t>Advanced cryptography protects data and prevents unauthorized access or tampering.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05FA4"/>
                </a:solidFill>
              </a:rPr>
              <a:t>5. Efficiency: </a:t>
            </a:r>
            <a:r>
              <a:rPr sz="1400">
                <a:solidFill>
                  <a:srgbClr val="333333"/>
                </a:solidFill>
              </a:rPr>
              <a:t>Automates transactions and verification processes, reducing time and costs.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2743200"/>
            <a:ext cx="2011680" cy="1280160"/>
          </a:xfrm>
          <a:prstGeom prst="roundRect">
            <a:avLst/>
          </a:prstGeom>
          <a:solidFill>
            <a:srgbClr val="005FA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500"/>
              </a:spcBef>
              <a:defRPr sz="2000" b="1">
                <a:solidFill>
                  <a:srgbClr val="FFFFFF"/>
                </a:solidFill>
              </a:defRPr>
            </a:pPr>
            <a:r>
              <a:t>Blockchain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1828800"/>
            <a:ext cx="2011680" cy="914400"/>
          </a:xfrm>
          <a:prstGeom prst="roundRect">
            <a:avLst/>
          </a:prstGeom>
          <a:solidFill>
            <a:srgbClr val="BBDDFF"/>
          </a:solidFill>
          <a:ln>
            <a:solidFill>
              <a:srgbClr val="005F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Decentralization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926080"/>
            <a:ext cx="2011680" cy="914400"/>
          </a:xfrm>
          <a:prstGeom prst="roundRect">
            <a:avLst/>
          </a:prstGeom>
          <a:solidFill>
            <a:srgbClr val="BBDDFF"/>
          </a:solidFill>
          <a:ln>
            <a:solidFill>
              <a:srgbClr val="005F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Transparency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0" y="4023360"/>
            <a:ext cx="2011680" cy="914400"/>
          </a:xfrm>
          <a:prstGeom prst="roundRect">
            <a:avLst/>
          </a:prstGeom>
          <a:solidFill>
            <a:srgbClr val="BBDDFF"/>
          </a:solidFill>
          <a:ln>
            <a:solidFill>
              <a:srgbClr val="005F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Immutability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9326880" y="2286000"/>
            <a:ext cx="548640" cy="1097280.0"/>
          </a:xfrm>
          <a:prstGeom prst="line">
            <a:avLst/>
          </a:prstGeom>
          <a:ln w="25400">
            <a:solidFill>
              <a:srgbClr val="005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326880" y="3383280.0"/>
            <a:ext cx="548640" cy="0.0"/>
          </a:xfrm>
          <a:prstGeom prst="line">
            <a:avLst/>
          </a:prstGeom>
          <a:ln w="25400">
            <a:solidFill>
              <a:srgbClr val="005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326880" y="3383280.0"/>
            <a:ext cx="548640" cy="1097280.0"/>
          </a:xfrm>
          <a:prstGeom prst="line">
            <a:avLst/>
          </a:prstGeom>
          <a:ln w="25400">
            <a:solidFill>
              <a:srgbClr val="005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