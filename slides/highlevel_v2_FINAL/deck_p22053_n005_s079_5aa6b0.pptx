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2895" cy="1371600"/>
          </a:xfrm>
          <a:prstGeom prst="rect">
            <a:avLst/>
          </a:prstGeom>
          <a:noFill/>
        </p:spPr>
        <p:txBody>
          <a:bodyPr wrap="square">
            <a:spAutoFit/>
          </a:bodyPr>
          <a:lstStyle/>
          <a:p>
            <a:pPr algn="ctr"/>
            <a:r>
              <a:rPr sz="4000" b="1">
                <a:solidFill>
                  <a:srgbClr val="2E4057"/>
                </a:solidFill>
              </a:rPr>
              <a:t>DEFINITION OF TERMS</a:t>
            </a:r>
          </a:p>
        </p:txBody>
      </p:sp>
      <p:sp>
        <p:nvSpPr>
          <p:cNvPr id="3" name="TextBox 2"/>
          <p:cNvSpPr txBox="1"/>
          <p:nvPr/>
        </p:nvSpPr>
        <p:spPr>
          <a:xfrm>
            <a:off x="914400" y="2286000"/>
            <a:ext cx="5029200" cy="3657600"/>
          </a:xfrm>
          <a:prstGeom prst="rect">
            <a:avLst/>
          </a:prstGeom>
          <a:noFill/>
        </p:spPr>
        <p:txBody>
          <a:bodyPr wrap="square">
            <a:spAutoFit/>
          </a:bodyPr>
          <a:lstStyle/>
          <a:p>
            <a:r>
              <a:rPr sz="2800" b="1">
                <a:solidFill>
                  <a:srgbClr val="0070C0"/>
                </a:solidFill>
              </a:rPr>
              <a:t>MEDIA</a:t>
            </a:r>
          </a:p>
          <a:p>
            <a:pPr algn="l"/>
            <a:r>
              <a:rPr sz="2000">
                <a:solidFill>
                  <a:srgbClr val="333333"/>
                </a:solidFill>
              </a:rPr>
              <a:t>Media refers to the channels of mass communication, such as television, radio, movies, newspapers, magazines, the Internet, and mobile devices. It is the primary means for disseminating information and entertainment to a broad audience, significantly influencing public opinion and social trends.</a:t>
            </a:r>
          </a:p>
        </p:txBody>
      </p:sp>
      <p:sp>
        <p:nvSpPr>
          <p:cNvPr id="4" name="TextBox 3"/>
          <p:cNvSpPr txBox="1"/>
          <p:nvPr/>
        </p:nvSpPr>
        <p:spPr>
          <a:xfrm>
            <a:off x="7162495" y="2286000"/>
            <a:ext cx="5029200" cy="3657600"/>
          </a:xfrm>
          <a:prstGeom prst="rect">
            <a:avLst/>
          </a:prstGeom>
          <a:noFill/>
        </p:spPr>
        <p:txBody>
          <a:bodyPr wrap="square">
            <a:spAutoFit/>
          </a:bodyPr>
          <a:lstStyle/>
          <a:p>
            <a:r>
              <a:rPr sz="2800" b="1">
                <a:solidFill>
                  <a:srgbClr val="0070C0"/>
                </a:solidFill>
              </a:rPr>
              <a:t>CULTURE</a:t>
            </a:r>
          </a:p>
          <a:p>
            <a:pPr algn="l"/>
            <a:r>
              <a:rPr sz="2000">
                <a:solidFill>
                  <a:srgbClr val="333333"/>
                </a:solidFill>
              </a:rPr>
              <a:t>Culture is the collective programming of the mind that distinguishes the members of one group or category of people from another. It encompasses the customary beliefs, social forms, material traits, language, religion, clothing, food, and arts that define a specific society or community.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