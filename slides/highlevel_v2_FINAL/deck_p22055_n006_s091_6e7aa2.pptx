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1097280"/>
          </a:xfrm>
          <a:prstGeom prst="rect">
            <a:avLst/>
          </a:prstGeom>
          <a:noFill/>
        </p:spPr>
        <p:txBody>
          <a:bodyPr wrap="square">
            <a:spAutoFit/>
          </a:bodyPr>
          <a:lstStyle/>
          <a:p>
            <a:pPr algn="ctr"/>
            <a:r>
              <a:rPr sz="3600" b="1">
                <a:solidFill>
                  <a:srgbClr val="1F4E79"/>
                </a:solidFill>
              </a:rPr>
              <a:t>Dynamics of Local and Global Culture</a:t>
            </a:r>
          </a:p>
        </p:txBody>
      </p:sp>
      <p:sp>
        <p:nvSpPr>
          <p:cNvPr id="3" name="TextBox 2"/>
          <p:cNvSpPr txBox="1"/>
          <p:nvPr/>
        </p:nvSpPr>
        <p:spPr>
          <a:xfrm>
            <a:off x="914400" y="1828800"/>
            <a:ext cx="10362895" cy="1371600"/>
          </a:xfrm>
          <a:prstGeom prst="rect">
            <a:avLst/>
          </a:prstGeom>
          <a:noFill/>
        </p:spPr>
        <p:txBody>
          <a:bodyPr wrap="square">
            <a:spAutoFit/>
          </a:bodyPr>
          <a:lstStyle/>
          <a:p>
            <a:r>
              <a:rPr sz="2400" b="1">
                <a:solidFill>
                  <a:srgbClr val="333333"/>
                </a:solidFill>
              </a:rPr>
              <a:t>Overview of Global Cultural Flows</a:t>
            </a:r>
          </a:p>
          <a:p>
            <a:r>
              <a:rPr sz="1800">
                <a:solidFill>
                  <a:srgbClr val="555555"/>
                </a:solidFill>
              </a:rPr>
              <a:t>Global cultural flows refer to the movement of ideas, values, and practices across borders. These flows influence local identities, creating complex interactions and tensions between maintaining local distinctiveness and adapting to global influences.</a:t>
            </a:r>
          </a:p>
        </p:txBody>
      </p:sp>
      <p:sp>
        <p:nvSpPr>
          <p:cNvPr id="4" name="TextBox 3"/>
          <p:cNvSpPr txBox="1"/>
          <p:nvPr/>
        </p:nvSpPr>
        <p:spPr>
          <a:xfrm>
            <a:off x="914400" y="3657600"/>
            <a:ext cx="10362895" cy="2743200"/>
          </a:xfrm>
          <a:prstGeom prst="rect">
            <a:avLst/>
          </a:prstGeom>
          <a:noFill/>
        </p:spPr>
        <p:txBody>
          <a:bodyPr wrap="square">
            <a:spAutoFit/>
          </a:bodyPr>
          <a:lstStyle/>
          <a:p>
            <a:r>
              <a:rPr sz="2400" b="1">
                <a:solidFill>
                  <a:srgbClr val="333333"/>
                </a:solidFill>
              </a:rPr>
              <a:t>Three Key Perspectives</a:t>
            </a:r>
          </a:p>
          <a:p>
            <a:pPr>
              <a:spcBef>
                <a:spcPts val="1400"/>
              </a:spcBef>
            </a:pPr>
            <a:r>
              <a:rPr sz="1800" b="1">
                <a:solidFill>
                  <a:srgbClr val="1F4E79"/>
                </a:solidFill>
              </a:rPr>
              <a:t>1. Cultural Differentialism: </a:t>
            </a:r>
            <a:r>
              <a:rPr sz="1800"/>
              <a:t>Emphasizes the distinctiveness and boundaries of cultures, often resisting global homogenization to preserve local identity.</a:t>
            </a:r>
          </a:p>
          <a:p>
            <a:pPr>
              <a:spcBef>
                <a:spcPts val="1400"/>
              </a:spcBef>
            </a:pPr>
            <a:r>
              <a:rPr sz="1800" b="1">
                <a:solidFill>
                  <a:srgbClr val="1F4E79"/>
                </a:solidFill>
              </a:rPr>
              <a:t>2. Hybridization: </a:t>
            </a:r>
            <a:r>
              <a:rPr sz="1800"/>
              <a:t>Describes the blending of local and global elements to create new, mixed cultural forms and identities.</a:t>
            </a:r>
          </a:p>
          <a:p>
            <a:pPr>
              <a:spcBef>
                <a:spcPts val="1400"/>
              </a:spcBef>
            </a:pPr>
            <a:r>
              <a:rPr sz="1800" b="1">
                <a:solidFill>
                  <a:srgbClr val="1F4E79"/>
                </a:solidFill>
              </a:rPr>
              <a:t>3. Convergence: </a:t>
            </a:r>
            <a:r>
              <a:rPr sz="1800"/>
              <a:t>Suggests that global forces lead to a uniformity in culture, where local differences diminish over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