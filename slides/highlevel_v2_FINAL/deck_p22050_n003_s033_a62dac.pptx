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4400" b="1">
                <a:solidFill>
                  <a:srgbClr val="2C3E50"/>
                </a:solidFill>
              </a:defRPr>
            </a:pPr>
            <a:r>
              <a:t>What is Graphic Design?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t>Visual communication using text and images.</a:t>
            </a:r>
          </a:p>
          <a:p>
            <a:pPr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t>Combines art and technology to solve problems.</a:t>
            </a:r>
          </a:p>
          <a:p>
            <a:pPr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t>Essential for branding and marketing.</a:t>
            </a:r>
          </a:p>
          <a:p>
            <a:pPr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t>Focuses on aesthetics and functionality.</a:t>
            </a:r>
          </a:p>
          <a:p>
            <a:pPr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t>Uses elements like typography, color, and layout.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42999" y="3243533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>
                <a:solidFill>
                  <a:srgbClr val="95A5A6"/>
                </a:solidFill>
              </a:defRPr>
            </a:pPr>
            <a:r>
              <a:t>Typography</a:t>
            </a:r>
          </a:p>
        </p:txBody>
      </p:sp>
      <p:sp>
        <p:nvSpPr>
          <p:cNvPr id="5" name="TextBox 4"/>
          <p:cNvSpPr txBox="1"/>
          <p:nvPr/>
        </p:nvSpPr>
        <p:spPr>
          <a:xfrm rot="59223">
            <a:off x="7560854" y="2810697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>
                <a:solidFill>
                  <a:srgbClr val="9B59B6"/>
                </a:solidFill>
              </a:defRPr>
            </a:pPr>
            <a:r>
              <a:t>Layout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73416" y="3247726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>
                <a:solidFill>
                  <a:srgbClr val="E74C3C"/>
                </a:solidFill>
              </a:defRPr>
            </a:pPr>
            <a:r>
              <a:t>Color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07934" y="2213016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3498DB"/>
                </a:solidFill>
              </a:defRPr>
            </a:pPr>
            <a:r>
              <a:t>Branding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03841" y="2210482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3498DB"/>
                </a:solidFill>
              </a:defRPr>
            </a:pPr>
            <a:r>
              <a:t>Illustration</a:t>
            </a:r>
          </a:p>
        </p:txBody>
      </p:sp>
      <p:sp>
        <p:nvSpPr>
          <p:cNvPr id="9" name="TextBox 8"/>
          <p:cNvSpPr txBox="1"/>
          <p:nvPr/>
        </p:nvSpPr>
        <p:spPr>
          <a:xfrm rot="21079501">
            <a:off x="9617517" y="2894331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1AB81A"/>
                </a:solidFill>
              </a:defRPr>
            </a:pPr>
            <a:r>
              <a:t>UI/UX</a:t>
            </a:r>
          </a:p>
        </p:txBody>
      </p:sp>
      <p:sp>
        <p:nvSpPr>
          <p:cNvPr id="10" name="TextBox 9"/>
          <p:cNvSpPr txBox="1"/>
          <p:nvPr/>
        </p:nvSpPr>
        <p:spPr>
          <a:xfrm rot="20988759">
            <a:off x="9877762" y="3656958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95A5A6"/>
                </a:solidFill>
              </a:defRPr>
            </a:pPr>
            <a:r>
              <a:t>Print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2224" y="1882219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E74C3C"/>
                </a:solidFill>
              </a:defRPr>
            </a:pPr>
            <a:r>
              <a:t>Digital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0962" y="4875345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>
                <a:solidFill>
                  <a:srgbClr val="3498DB"/>
                </a:solidFill>
              </a:defRPr>
            </a:pPr>
            <a:r>
              <a:t>Creativity</a:t>
            </a:r>
          </a:p>
        </p:txBody>
      </p:sp>
      <p:sp>
        <p:nvSpPr>
          <p:cNvPr id="13" name="TextBox 12"/>
          <p:cNvSpPr txBox="1"/>
          <p:nvPr/>
        </p:nvSpPr>
        <p:spPr>
          <a:xfrm rot="538926">
            <a:off x="9404865" y="5131608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498DB"/>
                </a:solidFill>
              </a:defRPr>
            </a:pPr>
            <a:r>
              <a:t>Composition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38746" y="2966746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9B59B6"/>
                </a:solidFill>
              </a:defRPr>
            </a:pPr>
            <a:r>
              <a:t>Balance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28882" y="3877925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34495E"/>
                </a:solidFill>
              </a:defRPr>
            </a:pPr>
            <a:r>
              <a:t>Contrast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64067" y="4309333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34495E"/>
                </a:solidFill>
              </a:defRPr>
            </a:pPr>
            <a:r>
              <a:t>Hierarchy</a:t>
            </a:r>
          </a:p>
        </p:txBody>
      </p:sp>
      <p:sp>
        <p:nvSpPr>
          <p:cNvPr id="17" name="TextBox 16"/>
          <p:cNvSpPr txBox="1"/>
          <p:nvPr/>
        </p:nvSpPr>
        <p:spPr>
          <a:xfrm rot="897201">
            <a:off x="8116951" y="278408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95A5A6"/>
                </a:solidFill>
              </a:defRPr>
            </a:pPr>
            <a:r>
              <a:t>Vector</a:t>
            </a:r>
          </a:p>
        </p:txBody>
      </p:sp>
      <p:sp>
        <p:nvSpPr>
          <p:cNvPr id="18" name="TextBox 17"/>
          <p:cNvSpPr txBox="1"/>
          <p:nvPr/>
        </p:nvSpPr>
        <p:spPr>
          <a:xfrm rot="272712">
            <a:off x="7596664" y="1626483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E74C3C"/>
                </a:solidFill>
              </a:defRPr>
            </a:pPr>
            <a:r>
              <a:t>Raster</a:t>
            </a:r>
          </a:p>
        </p:txBody>
      </p:sp>
      <p:sp>
        <p:nvSpPr>
          <p:cNvPr id="19" name="TextBox 18"/>
          <p:cNvSpPr txBox="1"/>
          <p:nvPr/>
        </p:nvSpPr>
        <p:spPr>
          <a:xfrm rot="480524">
            <a:off x="6982722" y="4858368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4495E"/>
                </a:solidFill>
              </a:defRPr>
            </a:pPr>
            <a:r>
              <a:t>Adobe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56874" y="3402179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9B59B6"/>
                </a:solidFill>
              </a:defRPr>
            </a:pPr>
            <a:r>
              <a:t>Photoshop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3160" y="3780207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39C12"/>
                </a:solidFill>
              </a:defRPr>
            </a:pPr>
            <a:r>
              <a:t>Illustrator</a:t>
            </a:r>
          </a:p>
        </p:txBody>
      </p:sp>
      <p:sp>
        <p:nvSpPr>
          <p:cNvPr id="22" name="TextBox 21"/>
          <p:cNvSpPr txBox="1"/>
          <p:nvPr/>
        </p:nvSpPr>
        <p:spPr>
          <a:xfrm rot="507734">
            <a:off x="9045653" y="4277397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E74C3C"/>
                </a:solidFill>
              </a:defRPr>
            </a:pPr>
            <a:r>
              <a:t>InDesign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90949" y="5016988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9B59B6"/>
                </a:solidFill>
              </a:defRPr>
            </a:pPr>
            <a:r>
              <a:t>Figma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21637" y="4452552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9B59B6"/>
                </a:solidFill>
              </a:defRPr>
            </a:pPr>
            <a:r>
              <a:t>Sketch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671" y="4209015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1AB81A"/>
                </a:solidFill>
              </a:defRPr>
            </a:pPr>
            <a:r>
              <a:t>Canva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05035" y="4334693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498DB"/>
                </a:solidFill>
              </a:defRPr>
            </a:pPr>
            <a:r>
              <a:t>Pixel</a:t>
            </a:r>
          </a:p>
        </p:txBody>
      </p:sp>
      <p:sp>
        <p:nvSpPr>
          <p:cNvPr id="27" name="TextBox 26"/>
          <p:cNvSpPr txBox="1"/>
          <p:nvPr/>
        </p:nvSpPr>
        <p:spPr>
          <a:xfrm rot="213272">
            <a:off x="8926237" y="1799664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34495E"/>
                </a:solidFill>
              </a:defRPr>
            </a:pPr>
            <a:r>
              <a:t>Resolution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58274" y="333317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9B59B6"/>
                </a:solidFill>
              </a:defRPr>
            </a:pPr>
            <a:r>
              <a:t>Grid</a:t>
            </a:r>
          </a:p>
        </p:txBody>
      </p:sp>
      <p:sp>
        <p:nvSpPr>
          <p:cNvPr id="29" name="TextBox 28"/>
          <p:cNvSpPr txBox="1"/>
          <p:nvPr/>
        </p:nvSpPr>
        <p:spPr>
          <a:xfrm rot="20784781">
            <a:off x="7775648" y="1574774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1AB81A"/>
                </a:solidFill>
              </a:defRPr>
            </a:pPr>
            <a:r>
              <a:t>Whitespace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58832" y="2395339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E74C3C"/>
                </a:solidFill>
              </a:defRPr>
            </a:pPr>
            <a:r>
              <a:t>Serif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4808" y="1742704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39C12"/>
                </a:solidFill>
              </a:defRPr>
            </a:pPr>
            <a:r>
              <a:t>Sans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35508" y="3025838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9B59B6"/>
                </a:solidFill>
              </a:defRPr>
            </a:pPr>
            <a:r>
              <a:t>Kerning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97341" y="4233299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9B59B6"/>
                </a:solidFill>
              </a:defRPr>
            </a:pPr>
            <a:r>
              <a:t>Leading</a:t>
            </a:r>
          </a:p>
        </p:txBody>
      </p:sp>
      <p:sp>
        <p:nvSpPr>
          <p:cNvPr id="34" name="TextBox 33"/>
          <p:cNvSpPr txBox="1"/>
          <p:nvPr/>
        </p:nvSpPr>
        <p:spPr>
          <a:xfrm rot="591045">
            <a:off x="8329101" y="2405313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3498DB"/>
                </a:solidFill>
              </a:defRPr>
            </a:pPr>
            <a:r>
              <a:t>Palette</a:t>
            </a:r>
          </a:p>
        </p:txBody>
      </p:sp>
      <p:sp>
        <p:nvSpPr>
          <p:cNvPr id="35" name="TextBox 34"/>
          <p:cNvSpPr txBox="1"/>
          <p:nvPr/>
        </p:nvSpPr>
        <p:spPr>
          <a:xfrm rot="21421414">
            <a:off x="6262141" y="5485735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39C12"/>
                </a:solidFill>
              </a:defRPr>
            </a:pPr>
            <a:r>
              <a:t>Mockup</a:t>
            </a:r>
          </a:p>
        </p:txBody>
      </p:sp>
      <p:sp>
        <p:nvSpPr>
          <p:cNvPr id="36" name="Oval 35"/>
          <p:cNvSpPr/>
          <p:nvPr/>
        </p:nvSpPr>
        <p:spPr>
          <a:xfrm rot="900000">
            <a:off x="9601200" y="182880"/>
            <a:ext cx="2286000" cy="22860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1000000">
            <a:off x="182880" y="5029200"/>
            <a:ext cx="2011680" cy="16459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sosceles Triangle 37"/>
          <p:cNvSpPr/>
          <p:nvPr/>
        </p:nvSpPr>
        <p:spPr>
          <a:xfrm rot="2700000">
            <a:off x="1097280" y="457200"/>
            <a:ext cx="1645920" cy="1645920"/>
          </a:xfrm>
          <a:prstGeom prst="triangle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241280" y="4754880"/>
            <a:ext cx="1645920" cy="1645920"/>
          </a:xfrm>
          <a:prstGeom prst="ellipse">
            <a:avLst/>
          </a:prstGeom>
          <a:solidFill>
            <a:srgbClr val="F7C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303520" y="365760"/>
            <a:ext cx="548640" cy="54864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