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1A1A1A"/>
                </a:solidFill>
                <a:latin typeface="Calibri"/>
              </a:defRPr>
            </a:pPr>
            <a:r>
              <a:t>Elon Musk Current Stage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0" y="1828800"/>
            <a:ext cx="713232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</a:p>
          <a:p>
            <a:pPr>
              <a:defRPr sz="1300" i="1">
                <a:solidFill>
                  <a:srgbClr val="666666"/>
                </a:solidFill>
                <a:latin typeface="Calibri"/>
              </a:defRPr>
            </a:pPr>
            <a:r>
              <a:t>CEO &amp; Product Architect</a:t>
            </a:r>
          </a:p>
          <a:p>
            <a:pPr>
              <a:defRPr sz="2000" b="1">
                <a:solidFill>
                  <a:srgbClr val="0056B3"/>
                </a:solidFill>
                <a:latin typeface="Calibri"/>
              </a:defRPr>
            </a:pPr>
            <a:r>
              <a:t>Tesla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38528"/>
            <a:ext cx="457200" cy="457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0" y="2651760"/>
            <a:ext cx="713232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</a:p>
          <a:p>
            <a:pPr>
              <a:defRPr sz="1300" i="1">
                <a:solidFill>
                  <a:srgbClr val="666666"/>
                </a:solidFill>
                <a:latin typeface="Calibri"/>
              </a:defRPr>
            </a:pPr>
            <a:r>
              <a:t>CEO &amp; Chief Technology Officer</a:t>
            </a:r>
          </a:p>
          <a:p>
            <a:pPr>
              <a:defRPr sz="2000" b="1">
                <a:solidFill>
                  <a:srgbClr val="0056B3"/>
                </a:solidFill>
                <a:latin typeface="Calibri"/>
              </a:defRPr>
            </a:pPr>
            <a:r>
              <a:t>SpaceX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61488"/>
            <a:ext cx="4572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3474720"/>
            <a:ext cx="713232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</a:p>
          <a:p>
            <a:pPr>
              <a:defRPr sz="1300" i="1">
                <a:solidFill>
                  <a:srgbClr val="666666"/>
                </a:solidFill>
                <a:latin typeface="Calibri"/>
              </a:defRPr>
            </a:pPr>
            <a:r>
              <a:t>Owner, CTO &amp; Executive Chairman</a:t>
            </a:r>
          </a:p>
          <a:p>
            <a:pPr>
              <a:defRPr sz="2000" b="1">
                <a:solidFill>
                  <a:srgbClr val="0056B3"/>
                </a:solidFill>
                <a:latin typeface="Calibri"/>
              </a:defRPr>
            </a:pPr>
            <a:r>
              <a:t>X Corp.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584448"/>
            <a:ext cx="457200" cy="457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0" y="4297680"/>
            <a:ext cx="713232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</a:p>
          <a:p>
            <a:pPr>
              <a:defRPr sz="1300" i="1">
                <a:solidFill>
                  <a:srgbClr val="666666"/>
                </a:solidFill>
                <a:latin typeface="Calibri"/>
              </a:defRPr>
            </a:pPr>
            <a:r>
              <a:t>CEO &amp; Founder</a:t>
            </a:r>
          </a:p>
          <a:p>
            <a:pPr>
              <a:defRPr sz="2000" b="1">
                <a:solidFill>
                  <a:srgbClr val="0056B3"/>
                </a:solidFill>
                <a:latin typeface="Calibri"/>
              </a:defRPr>
            </a:pPr>
            <a:r>
              <a:t>xAI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407408"/>
            <a:ext cx="457200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0" y="5120640"/>
            <a:ext cx="713232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</a:p>
          <a:p>
            <a:pPr>
              <a:defRPr sz="1300" i="1">
                <a:solidFill>
                  <a:srgbClr val="666666"/>
                </a:solidFill>
                <a:latin typeface="Calibri"/>
              </a:defRPr>
            </a:pPr>
            <a:r>
              <a:t>Founder &amp; Chief Engineer</a:t>
            </a:r>
          </a:p>
          <a:p>
            <a:pPr>
              <a:defRPr sz="2000" b="1">
                <a:solidFill>
                  <a:srgbClr val="0056B3"/>
                </a:solidFill>
                <a:latin typeface="Calibri"/>
              </a:defRPr>
            </a:pPr>
            <a:r>
              <a:t>Neuralink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5230368"/>
            <a:ext cx="457200" cy="457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0" y="5943600"/>
            <a:ext cx="7132320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</a:p>
          <a:p>
            <a:pPr>
              <a:defRPr sz="1300" i="1">
                <a:solidFill>
                  <a:srgbClr val="666666"/>
                </a:solidFill>
                <a:latin typeface="Calibri"/>
              </a:defRPr>
            </a:pPr>
            <a:r>
              <a:t>Founder</a:t>
            </a:r>
          </a:p>
          <a:p>
            <a:pPr>
              <a:defRPr sz="2000" b="1">
                <a:solidFill>
                  <a:srgbClr val="0056B3"/>
                </a:solidFill>
                <a:latin typeface="Calibri"/>
              </a:defRPr>
            </a:pPr>
            <a:r>
              <a:t>The Boring Company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6053328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